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55680" cy="580644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7589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Qwen 与高德地图 API-Key</a:t>
            </a:r>
          </a:p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注册获取与在旅游助手中的调用说明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240280"/>
            <a:ext cx="8046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面向答辩/汇报场景的简要说明。</a:t>
            </a:r>
          </a:p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内容包含：如何注册、如何获取、如何配置到项目、系统内如何调用。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3657600"/>
            <a:ext cx="1554480" cy="384048"/>
          </a:xfrm>
          <a:prstGeom prst="roundRect">
            <a:avLst/>
          </a:prstGeom>
          <a:solidFill>
            <a:srgbClr val="F7E7CC"/>
          </a:solidFill>
          <a:ln>
            <a:solidFill>
              <a:srgbClr val="F7E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1246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78034"/>
                </a:solidFill>
                <a:latin typeface="PingFang SC"/>
              </a:rPr>
              <a:t>Qwen API-Key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3472" y="3657600"/>
            <a:ext cx="1965960" cy="384048"/>
          </a:xfrm>
          <a:prstGeom prst="roundRect">
            <a:avLst/>
          </a:prstGeom>
          <a:solidFill>
            <a:srgbClr val="F7E7CC"/>
          </a:solidFill>
          <a:ln>
            <a:solidFill>
              <a:srgbClr val="F7E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3712464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78034"/>
                </a:solidFill>
                <a:latin typeface="PingFang SC"/>
              </a:rPr>
              <a:t>高德地图 API-Key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657600"/>
            <a:ext cx="1600200" cy="384048"/>
          </a:xfrm>
          <a:prstGeom prst="roundRect">
            <a:avLst/>
          </a:prstGeom>
          <a:solidFill>
            <a:srgbClr val="F7E7CC"/>
          </a:solidFill>
          <a:ln>
            <a:solidFill>
              <a:srgbClr val="F7E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71246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78034"/>
                </a:solidFill>
                <a:latin typeface="PingFang SC"/>
              </a:rPr>
              <a:t>本地配置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1691640" cy="384048"/>
          </a:xfrm>
          <a:prstGeom prst="roundRect">
            <a:avLst/>
          </a:prstGeom>
          <a:solidFill>
            <a:srgbClr val="F7E7CC"/>
          </a:solidFill>
          <a:ln>
            <a:solidFill>
              <a:srgbClr val="F7E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712464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78034"/>
                </a:solidFill>
                <a:latin typeface="PingFang SC"/>
              </a:rPr>
              <a:t>调用流程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914400"/>
            <a:ext cx="1783080" cy="3886200"/>
          </a:xfrm>
          <a:prstGeom prst="roundRect">
            <a:avLst/>
          </a:prstGeom>
          <a:solidFill>
            <a:srgbClr val="1B1917"/>
          </a:solidFill>
          <a:ln>
            <a:solidFill>
              <a:srgbClr val="1B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9760" y="1115568"/>
            <a:ext cx="1508760" cy="3520440"/>
          </a:xfrm>
          <a:prstGeom prst="roundRect">
            <a:avLst/>
          </a:prstGeom>
          <a:solidFill>
            <a:srgbClr val="F7F3EC"/>
          </a:solidFill>
          <a:ln>
            <a:solidFill>
              <a:srgbClr val="F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941832"/>
            <a:ext cx="868680" cy="201168"/>
          </a:xfrm>
          <a:prstGeom prst="roundRect">
            <a:avLst/>
          </a:prstGeom>
          <a:solidFill>
            <a:srgbClr val="1B1917"/>
          </a:solidFill>
          <a:ln>
            <a:solidFill>
              <a:srgbClr val="1B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5208" y="1938528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8231E"/>
                </a:solidFill>
                <a:latin typeface="PingFang SC"/>
              </a:rPr>
              <a:t>VOYA</a:t>
            </a:r>
          </a:p>
          <a:p>
            <a:pPr algn="ctr"/>
            <a:r>
              <a:rPr sz="1600" b="1">
                <a:solidFill>
                  <a:srgbClr val="28231E"/>
                </a:solidFill>
                <a:latin typeface="PingFang SC"/>
              </a:rPr>
              <a:t>旅游助手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2" y="3063240"/>
            <a:ext cx="13533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A5F53"/>
                </a:solidFill>
                <a:latin typeface="PingFang SC"/>
              </a:rPr>
              <a:t>对话规划</a:t>
            </a:r>
          </a:p>
          <a:p>
            <a:pPr algn="ctr"/>
            <a:r>
              <a:rPr sz="1000" b="0">
                <a:solidFill>
                  <a:srgbClr val="6A5F53"/>
                </a:solidFill>
                <a:latin typeface="PingFang SC"/>
              </a:rPr>
              <a:t>路线预算</a:t>
            </a:r>
          </a:p>
          <a:p>
            <a:pPr algn="ctr"/>
            <a:r>
              <a:rPr sz="1000" b="0">
                <a:solidFill>
                  <a:srgbClr val="6A5F53"/>
                </a:solidFill>
                <a:latin typeface="PingFang SC"/>
              </a:rPr>
              <a:t>准备提醒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1. Qwen API-Key 如何注册与获取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项目中通过 DashScope OpenAI 兼容接口调用 Qwen。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注册 / 获取步骤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45720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1. 进入阿里云百炼 / DashScope 控制台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2. 注册阿里云账号并完成实名认证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3. 开通通义千问相关服务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4. 在 API-KEY 管理页创建 Key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5. 记录 Base URL、模型名和 API-Key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项目中实际使用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2011680"/>
          <a:ext cx="4663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834640"/>
              </a:tblGrid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项目配置项</a:t>
                      </a:r>
                    </a:p>
                  </a:txBody>
                  <a:tcPr marL="76200" marR="76200" marT="50800" marB="50800">
                    <a:solidFill>
                      <a:srgbClr val="F7E7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示例值</a:t>
                      </a:r>
                    </a:p>
                  </a:txBody>
                  <a:tcPr marL="76200" marR="76200" marT="50800" marB="50800">
                    <a:solidFill>
                      <a:srgbClr val="F7E7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VITE_GPT_API_KEY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你的 Qwen 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VITE_GPT_BASE_URL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https://dashscope.aliyuncs.com/compatible-mode/v1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VITE_GPT_MODEL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qwen-turbo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46520" y="46177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78BD"/>
                </a:solidFill>
                <a:latin typeface="PingFang SC"/>
              </a:rPr>
              <a:t>说明：本项目使用 OpenAI 兼容的 `chat/completions` 接口访问 Qwen，因此前端只需要配置 Key、Base URL 和 Model。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2. 高德地图 API-Key 如何注册与获取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高德部分需要区分前端 JS 地图能力和后端 Web Service 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注册 / 获取步骤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1. 注册高德开放平台账号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2. 创建应用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3. 开通 JavaScript API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4. 生成 Web 端 Key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5. 配置安全密钥 SecurityJsCode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6. 开通 Web 服务并获取 WebService Key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60520" y="1783080"/>
          <a:ext cx="70408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834640"/>
              </a:tblGrid>
              <a:tr h="742950"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密钥类型</a:t>
                      </a:r>
                    </a:p>
                  </a:txBody>
                  <a:tcPr marL="76200" marR="76200" marT="50800" marB="50800">
                    <a:solidFill>
                      <a:srgbClr val="F7E7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用途</a:t>
                      </a:r>
                    </a:p>
                  </a:txBody>
                  <a:tcPr marL="76200" marR="76200" marT="50800" marB="50800">
                    <a:solidFill>
                      <a:srgbClr val="F7E7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项目配置项</a:t>
                      </a:r>
                    </a:p>
                  </a:txBody>
                  <a:tcPr marL="76200" marR="76200" marT="50800" marB="50800">
                    <a:solidFill>
                      <a:srgbClr val="F7E7C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JS API 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前端地图底图 / Marker / 控件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VITE_AMAP_API_KEY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SecurityJsCode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前端 JSAPI 安全校验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VITE_AMAP_SECURITY_JS_CODE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231E"/>
                          </a:solidFill>
                          <a:latin typeface="PingFang SC"/>
                        </a:rPr>
                        <a:t>WebService 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地理编码 / POI / 路径规划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A5F53"/>
                          </a:solidFill>
                          <a:latin typeface="PingFang SC"/>
                        </a:rPr>
                        <a:t>VITE_AMAP_WEBSERVICE_KEY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0" y="4983480"/>
            <a:ext cx="6492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78BD"/>
                </a:solidFill>
                <a:latin typeface="PingFang SC"/>
              </a:rPr>
              <a:t>说明：高德地图不能只配一个 Key。要想真实展示地图和路线，通常至少要准备 JS API Key + SecurityJsCode + WebService Key。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3. 在旅游助手中如何配置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所有本地密钥统一放在 `secrets/local.keys.env`，并由 Vite 注入到前端。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7086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配置步骤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834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1. 复制 `secrets/local.keys.env.example`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2. 重命名为 `secrets/local.keys.env`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3. 填入 Qwen 与高德密钥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4. 重新执行 `npm run dev`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5. 前端通过 `import.meta.env` 读取配置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0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示例配置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6309360" cy="3108960"/>
          </a:xfrm>
          <a:prstGeom prst="round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194560"/>
            <a:ext cx="5852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VITE_GPT_API_KEY=your_qwen_key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VITE_GPT_BASE_URL=https://dashscope.aliyuncs.com/compatible-mode/v1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VITE_GPT_MODEL=qwen-turbo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VITE_AMAP_API_KEY=your_amap_js_key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VITE_AMAP_SECURITY_JS_CODE=your_security_js_code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enlo"/>
              </a:rPr>
              <a:t>VITE_AMAP_WEBSERVICE_KEY=your_amap_webservice_key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230368"/>
            <a:ext cx="6126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88E60"/>
                </a:solidFill>
                <a:latin typeface="PingFang SC"/>
              </a:rPr>
              <a:t>对应项目代码：`vite.config.ts` 会读取 `secrets/local.keys.env` 并注入 `import.meta.env.*`。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4. Qwen 在旅游助手中如何调用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Qwen 主要负责需求理解、回复润色和旅行方案生成。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用户输入需求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04872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Planner 提取画像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0791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gptProvider.ts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/chat/completions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返回 JSON / 文案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42316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267919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8231E"/>
                </a:solidFill>
                <a:latin typeface="PingFang SC"/>
              </a:rPr>
              <a:t>页面展示结果</a:t>
            </a:r>
          </a:p>
        </p:txBody>
      </p:sp>
      <p:sp>
        <p:nvSpPr>
          <p:cNvPr id="16" name="Chevron 15"/>
          <p:cNvSpPr/>
          <p:nvPr/>
        </p:nvSpPr>
        <p:spPr>
          <a:xfrm>
            <a:off x="1828800" y="2743200"/>
            <a:ext cx="502920" cy="25603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474720" y="2743200"/>
            <a:ext cx="502920" cy="25603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212080" y="2743200"/>
            <a:ext cx="502920" cy="25603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040880" y="2743200"/>
            <a:ext cx="502920" cy="25603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8823960" y="2743200"/>
            <a:ext cx="502920" cy="25603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43400"/>
            <a:ext cx="10241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A5F53"/>
                </a:solidFill>
                <a:latin typeface="PingFang SC"/>
              </a:rPr>
              <a:t>代码位置：</a:t>
            </a:r>
          </a:p>
          <a:p>
            <a:pPr algn="l"/>
            <a:r>
              <a:rPr sz="1300" b="0">
                <a:solidFill>
                  <a:srgbClr val="6A5F53"/>
                </a:solidFill>
                <a:latin typeface="PingFang SC"/>
              </a:rPr>
              <a:t>- `src/services/providers/gptProvider.ts`：读取 `VITE_GPT_API_KEY / BASE_URL / MODEL`，调用兼容接口。</a:t>
            </a:r>
          </a:p>
          <a:p>
            <a:pPr algn="l"/>
            <a:r>
              <a:rPr sz="1300" b="0">
                <a:solidFill>
                  <a:srgbClr val="6A5F53"/>
                </a:solidFill>
                <a:latin typeface="PingFang SC"/>
              </a:rPr>
              <a:t>- `src/services/planner.ts`：通过 `llmExtractProfile()` 和 `buildTravelPlanAsync()` 使用 Qwen。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5. 高德地图在旅游助手中如何调用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高德部分分为前端 JSAPI 加载地图，以及后端代理 WebService 两条链路。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前端地图链路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3891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1. `amapProvider.ts` 读取 JS API Key 和 SecurityJsCode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2. 通过 `AMapLoader.load()` 加载高德 JSAPI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3. `RouteMapCard.tsx` 创建 Map / Marker / Polyline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4. 页面展示真实底图与路线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8231E"/>
                </a:solidFill>
                <a:latin typeface="PingFang SC"/>
              </a:rPr>
              <a:t>后端服务链路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3891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1. `amapWebService.ts` 请求 `/api/amap/*`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2. `telemetry-server.mjs` 代理高德 Web Service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3. 后端完成地理编码、POI 搜索、路径规划</a:t>
            </a:r>
          </a:p>
          <a:p>
            <a:pPr algn="l"/>
            <a:r>
              <a:rPr sz="1400" b="0">
                <a:solidFill>
                  <a:srgbClr val="6A5F53"/>
                </a:solidFill>
                <a:latin typeface="PingFang SC"/>
              </a:rPr>
              <a:t>4. 结果返回前端继续渲染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1206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78BD"/>
                </a:solidFill>
                <a:latin typeface="PingFang SC"/>
              </a:rPr>
              <a:t>典型接口：`/api/amap/geocode`、`/api/amap/poi`、`/api/amap/route`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8231E"/>
                </a:solidFill>
                <a:latin typeface="PingFang SC"/>
              </a:rPr>
              <a:t>6. 汇报时可强调的要点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A5F53"/>
                </a:solidFill>
                <a:latin typeface="PingFang SC"/>
              </a:rPr>
              <a:t>适合作为答辩或讲解时的总结页。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• Qwen 负责“理解需求 + 生成方案”，通过 OpenAI 兼容接口接入。</a:t>
            </a:r>
          </a:p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• 高德负责“真实地图 + 路线 + POI + 地理编码”，前后端协同调用。</a:t>
            </a:r>
          </a:p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• 项目把所有本地密钥统一收敛到 `secrets/local.keys.env`，避免写死在源码里。</a:t>
            </a:r>
          </a:p>
          <a:p>
            <a:pPr algn="l"/>
            <a:r>
              <a:rPr sz="1500" b="0">
                <a:solidFill>
                  <a:srgbClr val="6A5F53"/>
                </a:solidFill>
                <a:latin typeface="PingFang SC"/>
              </a:rPr>
              <a:t>• Vite 负责把本地 `VITE_*` 变量注入前端，telemetry server 负责代理高德 WebService 与日志验证。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关键代码位置：</a:t>
            </a:r>
          </a:p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- `src/services/providers/gptProvider.ts`</a:t>
            </a:r>
          </a:p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- `src/services/providers/amapProvider.ts`</a:t>
            </a:r>
          </a:p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- `src/services/amapWebService.ts`</a:t>
            </a:r>
          </a:p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- `api/telemetry-server.mjs`</a:t>
            </a:r>
          </a:p>
          <a:p>
            <a:pPr algn="l"/>
            <a:r>
              <a:rPr sz="1300" b="0">
                <a:solidFill>
                  <a:srgbClr val="B78034"/>
                </a:solidFill>
                <a:latin typeface="PingFang SC"/>
              </a:rPr>
              <a:t>- `vite.config.ts`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