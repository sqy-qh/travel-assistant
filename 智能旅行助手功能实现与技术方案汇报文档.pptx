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1155680" cy="5760720"/>
          </a:xfrm>
          <a:prstGeom prst="roundRect">
            <a:avLst/>
          </a:prstGeom>
          <a:solidFill>
            <a:srgbClr val="FFFFFF"/>
          </a:solidFill>
          <a:ln>
            <a:solidFill>
              <a:srgbClr val="E2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8046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7211C"/>
                </a:solidFill>
                <a:latin typeface="PingFang SC"/>
              </a:rPr>
              <a:t>智能旅行助手</a:t>
            </a:r>
          </a:p>
          <a:p>
            <a:pPr algn="l"/>
            <a:r>
              <a:rPr sz="2400" b="1">
                <a:solidFill>
                  <a:srgbClr val="27211C"/>
                </a:solidFill>
                <a:latin typeface="PingFang SC"/>
              </a:rPr>
              <a:t>功能实现与技术方案汇报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148840"/>
            <a:ext cx="8686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65C52"/>
                </a:solidFill>
                <a:latin typeface="PingFang SC"/>
              </a:rPr>
              <a:t>一个以手机界面为核心的对话式旅行规划网站</a:t>
            </a:r>
          </a:p>
          <a:p>
            <a:pPr algn="l"/>
            <a:r>
              <a:rPr sz="1500" b="0">
                <a:solidFill>
                  <a:srgbClr val="665C52"/>
                </a:solidFill>
                <a:latin typeface="PingFang SC"/>
              </a:rPr>
              <a:t>覆盖需求收集、行程生成、地图路线、预算与出行准备。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960120"/>
            <a:ext cx="1737360" cy="3749039"/>
          </a:xfrm>
          <a:prstGeom prst="roundRect">
            <a:avLst/>
          </a:prstGeom>
          <a:solidFill>
            <a:srgbClr val="1C1A18"/>
          </a:solidFill>
          <a:ln>
            <a:solidFill>
              <a:srgbClr val="1C1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64040" y="1143000"/>
            <a:ext cx="1463040" cy="3383280"/>
          </a:xfrm>
          <a:prstGeom prst="roundRect">
            <a:avLst/>
          </a:prstGeom>
          <a:solidFill>
            <a:srgbClr val="F7F3EC"/>
          </a:solidFill>
          <a:ln>
            <a:solidFill>
              <a:srgbClr val="F7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784080" y="987552"/>
            <a:ext cx="822960" cy="201168"/>
          </a:xfrm>
          <a:prstGeom prst="roundRect">
            <a:avLst/>
          </a:prstGeom>
          <a:solidFill>
            <a:srgbClr val="1C1A18"/>
          </a:solidFill>
          <a:ln>
            <a:solidFill>
              <a:srgbClr val="1C1A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28632" y="1828800"/>
            <a:ext cx="1143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7211C"/>
                </a:solidFill>
                <a:latin typeface="PingFang SC"/>
              </a:rPr>
              <a:t>VOYA</a:t>
            </a:r>
          </a:p>
          <a:p>
            <a:pPr algn="ctr"/>
            <a:r>
              <a:rPr sz="1500" b="1">
                <a:solidFill>
                  <a:srgbClr val="27211C"/>
                </a:solidFill>
                <a:latin typeface="PingFang SC"/>
              </a:rPr>
              <a:t>旅行助手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2912" y="2926080"/>
            <a:ext cx="1234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5C52"/>
                </a:solidFill>
                <a:latin typeface="PingFang SC"/>
              </a:rPr>
              <a:t>对话规划</a:t>
            </a:r>
          </a:p>
          <a:p>
            <a:pPr algn="ctr"/>
            <a:r>
              <a:rPr sz="1000" b="0">
                <a:solidFill>
                  <a:srgbClr val="665C52"/>
                </a:solidFill>
                <a:latin typeface="PingFang SC"/>
              </a:rPr>
              <a:t>地图路线</a:t>
            </a:r>
          </a:p>
          <a:p>
            <a:pPr algn="ctr"/>
            <a:r>
              <a:rPr sz="1000" b="0">
                <a:solidFill>
                  <a:srgbClr val="665C52"/>
                </a:solidFill>
                <a:latin typeface="PingFang SC"/>
              </a:rPr>
              <a:t>预算准备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7772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78034"/>
                </a:solidFill>
                <a:latin typeface="PingFang SC"/>
              </a:rPr>
              <a:t>技术栈：React + TypeScript + Zustand + Qwen + 高德地图 + Telemetry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7211C"/>
                </a:solidFill>
                <a:latin typeface="PingFang SC"/>
              </a:rPr>
              <a:t>1. 项目概述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5C52"/>
                </a:solidFill>
                <a:latin typeface="PingFang SC"/>
              </a:rPr>
              <a:t>目标是将需求收集、方案生成、地图展示、准备提醒串成一个连续流程。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132588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7211C"/>
                </a:solidFill>
                <a:latin typeface="PingFang SC"/>
              </a:rPr>
              <a:t>项目定位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4572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以手机界面为核心展示形态</a:t>
            </a:r>
          </a:p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通过多轮对话理解旅行需求</a:t>
            </a:r>
          </a:p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自动生成候选目的地与完整行程</a:t>
            </a:r>
          </a:p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联动预算、地图、准备建议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7211C"/>
                </a:solidFill>
                <a:latin typeface="PingFang SC"/>
              </a:rPr>
              <a:t>核心价值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057400"/>
            <a:ext cx="4572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降低用户输入门槛</a:t>
            </a:r>
          </a:p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减少在多个平台反复切换</a:t>
            </a:r>
          </a:p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让路线、预算和准备信息统一呈现</a:t>
            </a:r>
          </a:p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支持持续追问和动态调整方案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983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78034"/>
                </a:solidFill>
                <a:latin typeface="PingFang SC"/>
              </a:rPr>
              <a:t>当前产品结构：首页对话页 / 行程页 / 准备页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7211C"/>
                </a:solidFill>
                <a:latin typeface="PingFang SC"/>
              </a:rPr>
              <a:t>2. 已实现功能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5C52"/>
                </a:solidFill>
                <a:latin typeface="PingFang SC"/>
              </a:rPr>
              <a:t>已覆盖从需求输入到出行准备的完整闭环。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486400"/>
                <a:gridCol w="3383280"/>
              </a:tblGrid>
              <a:tr h="746760">
                <a:tc>
                  <a:txBody>
                    <a:bodyPr/>
                    <a:lstStyle/>
                    <a:p>
                      <a:r>
                        <a:rPr b="1" sz="1200">
                          <a:latin typeface="PingFang SC"/>
                        </a:rPr>
                        <a:t>功能模块</a:t>
                      </a:r>
                    </a:p>
                  </a:txBody>
                  <a:tcPr marL="76200" marR="76200" marT="50800" marB="50800">
                    <a:solidFill>
                      <a:srgbClr val="F7E6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latin typeface="PingFang SC"/>
                        </a:rPr>
                        <a:t>已实现内容</a:t>
                      </a:r>
                    </a:p>
                  </a:txBody>
                  <a:tcPr marL="76200" marR="76200" marT="50800" marB="50800">
                    <a:solidFill>
                      <a:srgbClr val="F7E6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latin typeface="PingFang SC"/>
                        </a:rPr>
                        <a:t>用户价值</a:t>
                      </a:r>
                    </a:p>
                  </a:txBody>
                  <a:tcPr marL="76200" marR="76200" marT="50800" marB="50800">
                    <a:solidFill>
                      <a:srgbClr val="F7E6C6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7211C"/>
                          </a:solidFill>
                          <a:latin typeface="PingFang SC"/>
                        </a:rPr>
                        <a:t>对话式需求收集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65C52"/>
                          </a:solidFill>
                          <a:latin typeface="PingFang SC"/>
                        </a:rPr>
                        <a:t>多轮收集出发地、目的地、时间、预算、同行人与偏好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65C52"/>
                          </a:solidFill>
                          <a:latin typeface="PingFang SC"/>
                        </a:rPr>
                        <a:t>逐步补全需求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7211C"/>
                          </a:solidFill>
                          <a:latin typeface="PingFang SC"/>
                        </a:rPr>
                        <a:t>行程与目的地推荐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65C52"/>
                          </a:solidFill>
                          <a:latin typeface="PingFang SC"/>
                        </a:rPr>
                        <a:t>生成候选目的地、推荐理由和按天行程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65C52"/>
                          </a:solidFill>
                          <a:latin typeface="PingFang SC"/>
                        </a:rPr>
                        <a:t>快速得到可执行方案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7211C"/>
                          </a:solidFill>
                          <a:latin typeface="PingFang SC"/>
                        </a:rPr>
                        <a:t>路线地图展示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65C52"/>
                          </a:solidFill>
                          <a:latin typeface="PingFang SC"/>
                        </a:rPr>
                        <a:t>按天展示路线节点、标记和路径规划结果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65C52"/>
                          </a:solidFill>
                          <a:latin typeface="PingFang SC"/>
                        </a:rPr>
                        <a:t>直观看到每日动线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7211C"/>
                          </a:solidFill>
                          <a:latin typeface="PingFang SC"/>
                        </a:rPr>
                        <a:t>预算与价格监控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65C52"/>
                          </a:solidFill>
                          <a:latin typeface="PingFang SC"/>
                        </a:rPr>
                        <a:t>输出分类预算、价格监控卡片和趋势状态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65C52"/>
                          </a:solidFill>
                          <a:latin typeface="PingFang SC"/>
                        </a:rPr>
                        <a:t>方便判断成本与预订时机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7211C"/>
                          </a:solidFill>
                          <a:latin typeface="PingFang SC"/>
                        </a:rPr>
                        <a:t>准备建议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65C52"/>
                          </a:solidFill>
                          <a:latin typeface="PingFang SC"/>
                        </a:rPr>
                        <a:t>提供签证、清单、穿搭和保险建议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665C52"/>
                          </a:solidFill>
                          <a:latin typeface="PingFang SC"/>
                        </a:rPr>
                        <a:t>减少遗漏和风险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7211C"/>
                </a:solidFill>
                <a:latin typeface="PingFang SC"/>
              </a:rPr>
              <a:t>3. 页面与交互形态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5C52"/>
                </a:solidFill>
                <a:latin typeface="PingFang SC"/>
              </a:rPr>
              <a:t>当前界面已优化为手机居中展示，突出主流程体验。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5204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92024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7211C"/>
                </a:solidFill>
                <a:latin typeface="PingFang SC"/>
              </a:rPr>
              <a:t>首页 / 对话页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560320"/>
            <a:ext cx="28803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对话区</a:t>
            </a:r>
          </a:p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快捷需求</a:t>
            </a:r>
          </a:p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需求摘要</a:t>
            </a:r>
          </a:p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手机通话界面风格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4709160"/>
            <a:ext cx="1417320" cy="566928"/>
          </a:xfrm>
          <a:prstGeom prst="roundRect">
            <a:avLst/>
          </a:prstGeom>
          <a:solidFill>
            <a:srgbClr val="F7E6C6"/>
          </a:solidFill>
          <a:ln>
            <a:solidFill>
              <a:srgbClr val="F7E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4873752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78034"/>
                </a:solidFill>
                <a:latin typeface="PingFang SC"/>
              </a:rPr>
              <a:t>手机界面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5204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92024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7211C"/>
                </a:solidFill>
                <a:latin typeface="PingFang SC"/>
              </a:rPr>
              <a:t>行程页 /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560320"/>
            <a:ext cx="28803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候选目的地</a:t>
            </a:r>
          </a:p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每日行程</a:t>
            </a:r>
          </a:p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路线地图</a:t>
            </a:r>
          </a:p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预算分配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4709160"/>
            <a:ext cx="1417320" cy="566928"/>
          </a:xfrm>
          <a:prstGeom prst="roundRect">
            <a:avLst/>
          </a:prstGeom>
          <a:solidFill>
            <a:srgbClr val="F7E6C6"/>
          </a:solidFill>
          <a:ln>
            <a:solidFill>
              <a:srgbClr val="F7E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13832" y="4873752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78034"/>
                </a:solidFill>
                <a:latin typeface="PingFang SC"/>
              </a:rPr>
              <a:t>手机界面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5204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92024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7211C"/>
                </a:solidFill>
                <a:latin typeface="PingFang SC"/>
              </a:rPr>
              <a:t>准备页 / Prepare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560320"/>
            <a:ext cx="28803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价格监控</a:t>
            </a:r>
          </a:p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签证政策</a:t>
            </a:r>
          </a:p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打包清单</a:t>
            </a:r>
          </a:p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穿搭与保险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4709160"/>
            <a:ext cx="1417320" cy="566928"/>
          </a:xfrm>
          <a:prstGeom prst="roundRect">
            <a:avLst/>
          </a:prstGeom>
          <a:solidFill>
            <a:srgbClr val="F7E6C6"/>
          </a:solidFill>
          <a:ln>
            <a:solidFill>
              <a:srgbClr val="F7E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7152" y="4873752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78034"/>
                </a:solidFill>
                <a:latin typeface="PingFang SC"/>
              </a:rPr>
              <a:t>手机界面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7211C"/>
                </a:solidFill>
                <a:latin typeface="PingFang SC"/>
              </a:rPr>
              <a:t>4. 核心业务流程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5C52"/>
                </a:solidFill>
                <a:latin typeface="PingFang SC"/>
              </a:rPr>
              <a:t>从需求输入到结果输出保持单一对话入口。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468880"/>
            <a:ext cx="1600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724912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7211C"/>
                </a:solidFill>
                <a:latin typeface="PingFang SC"/>
              </a:rPr>
              <a:t>用户输入需求</a:t>
            </a:r>
          </a:p>
        </p:txBody>
      </p:sp>
      <p:sp>
        <p:nvSpPr>
          <p:cNvPr id="6" name="Chevron 5"/>
          <p:cNvSpPr/>
          <p:nvPr/>
        </p:nvSpPr>
        <p:spPr>
          <a:xfrm>
            <a:off x="2304288" y="2743200"/>
            <a:ext cx="256032" cy="347472"/>
          </a:xfrm>
          <a:prstGeom prst="chevron">
            <a:avLst/>
          </a:prstGeom>
          <a:solidFill>
            <a:srgbClr val="B78034"/>
          </a:solidFill>
          <a:ln>
            <a:solidFill>
              <a:srgbClr val="B7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0" y="2468880"/>
            <a:ext cx="1600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0048" y="2724912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7211C"/>
                </a:solidFill>
                <a:latin typeface="PingFang SC"/>
              </a:rPr>
              <a:t>提取关键信息</a:t>
            </a:r>
          </a:p>
        </p:txBody>
      </p:sp>
      <p:sp>
        <p:nvSpPr>
          <p:cNvPr id="9" name="Chevron 8"/>
          <p:cNvSpPr/>
          <p:nvPr/>
        </p:nvSpPr>
        <p:spPr>
          <a:xfrm>
            <a:off x="4178808" y="2743200"/>
            <a:ext cx="256032" cy="347472"/>
          </a:xfrm>
          <a:prstGeom prst="chevron">
            <a:avLst/>
          </a:prstGeom>
          <a:solidFill>
            <a:srgbClr val="B78034"/>
          </a:solidFill>
          <a:ln>
            <a:solidFill>
              <a:srgbClr val="B7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2468880"/>
            <a:ext cx="1600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724912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7211C"/>
                </a:solidFill>
                <a:latin typeface="PingFang SC"/>
              </a:rPr>
              <a:t>判断信息完整性</a:t>
            </a:r>
          </a:p>
        </p:txBody>
      </p:sp>
      <p:sp>
        <p:nvSpPr>
          <p:cNvPr id="12" name="Chevron 11"/>
          <p:cNvSpPr/>
          <p:nvPr/>
        </p:nvSpPr>
        <p:spPr>
          <a:xfrm>
            <a:off x="6053328" y="2743200"/>
            <a:ext cx="256032" cy="347472"/>
          </a:xfrm>
          <a:prstGeom prst="chevron">
            <a:avLst/>
          </a:prstGeom>
          <a:solidFill>
            <a:srgbClr val="B78034"/>
          </a:solidFill>
          <a:ln>
            <a:solidFill>
              <a:srgbClr val="B7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59" y="2468880"/>
            <a:ext cx="1600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7" y="2724912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7211C"/>
                </a:solidFill>
                <a:latin typeface="PingFang SC"/>
              </a:rPr>
              <a:t>生成目的地候选与画像</a:t>
            </a:r>
          </a:p>
        </p:txBody>
      </p:sp>
      <p:sp>
        <p:nvSpPr>
          <p:cNvPr id="15" name="Chevron 14"/>
          <p:cNvSpPr/>
          <p:nvPr/>
        </p:nvSpPr>
        <p:spPr>
          <a:xfrm>
            <a:off x="7927847" y="2743200"/>
            <a:ext cx="256032" cy="347472"/>
          </a:xfrm>
          <a:prstGeom prst="chevron">
            <a:avLst/>
          </a:prstGeom>
          <a:solidFill>
            <a:srgbClr val="B78034"/>
          </a:solidFill>
          <a:ln>
            <a:solidFill>
              <a:srgbClr val="B7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2468880"/>
            <a:ext cx="1600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7" y="2724912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7211C"/>
                </a:solidFill>
                <a:latin typeface="PingFang SC"/>
              </a:rPr>
              <a:t>生成按天行程与预算</a:t>
            </a:r>
          </a:p>
        </p:txBody>
      </p:sp>
      <p:sp>
        <p:nvSpPr>
          <p:cNvPr id="18" name="Chevron 17"/>
          <p:cNvSpPr/>
          <p:nvPr/>
        </p:nvSpPr>
        <p:spPr>
          <a:xfrm>
            <a:off x="9802367" y="2743200"/>
            <a:ext cx="256032" cy="347472"/>
          </a:xfrm>
          <a:prstGeom prst="chevron">
            <a:avLst/>
          </a:prstGeom>
          <a:solidFill>
            <a:srgbClr val="B78034"/>
          </a:solidFill>
          <a:ln>
            <a:solidFill>
              <a:srgbClr val="B7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0" y="2468880"/>
            <a:ext cx="1600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68128" y="2724912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7211C"/>
                </a:solidFill>
                <a:latin typeface="PingFang SC"/>
              </a:rPr>
              <a:t>补充地图 / 价格 / 清单 / 保险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5C52"/>
                </a:solidFill>
                <a:latin typeface="PingFang SC"/>
              </a:rPr>
              <a:t>当关键信息不完整时，系统会继续追问补全；当信息完整后，再统一生成候选目的地、每日行程、路线地图、预算与准备建议。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7211C"/>
                </a:solidFill>
                <a:latin typeface="PingFang SC"/>
              </a:rPr>
              <a:t>5. 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5C52"/>
                </a:solidFill>
                <a:latin typeface="PingFang SC"/>
              </a:rPr>
              <a:t>前端负责界面与状态，业务编排层统一连接模型、地图和本地日志服务。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1463040"/>
            <a:ext cx="9235440" cy="685800"/>
          </a:xfrm>
          <a:prstGeom prst="roundRect">
            <a:avLst/>
          </a:prstGeom>
          <a:solidFill>
            <a:srgbClr val="F7E6C6"/>
          </a:solidFill>
          <a:ln>
            <a:solidFill>
              <a:srgbClr val="E2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627632"/>
            <a:ext cx="9235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7211C"/>
                </a:solidFill>
                <a:latin typeface="PingFang SC"/>
              </a:rPr>
              <a:t>React 页面与组件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2423160"/>
            <a:ext cx="8138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587752"/>
            <a:ext cx="8138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7211C"/>
                </a:solidFill>
                <a:latin typeface="PingFang SC"/>
              </a:rPr>
              <a:t>Zustand 状态层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3383280"/>
            <a:ext cx="70408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3547872"/>
            <a:ext cx="7040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7211C"/>
                </a:solidFill>
                <a:latin typeface="PingFang SC"/>
              </a:rPr>
              <a:t>Planner 业务编排层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617720"/>
            <a:ext cx="2560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864608"/>
            <a:ext cx="2414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7211C"/>
                </a:solidFill>
                <a:latin typeface="PingFang SC"/>
              </a:rPr>
              <a:t>Qwen Provider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011680" y="4069080"/>
            <a:ext cx="365760" cy="457200"/>
          </a:xfrm>
          <a:prstGeom prst="downArrow">
            <a:avLst/>
          </a:prstGeom>
          <a:solidFill>
            <a:srgbClr val="B78034"/>
          </a:solidFill>
          <a:ln>
            <a:solidFill>
              <a:srgbClr val="B7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40480" y="4617720"/>
            <a:ext cx="2560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13632" y="4864608"/>
            <a:ext cx="2414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7211C"/>
                </a:solidFill>
                <a:latin typeface="PingFang SC"/>
              </a:rPr>
              <a:t>Amap Provider / Web Service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937760" y="4069080"/>
            <a:ext cx="365760" cy="457200"/>
          </a:xfrm>
          <a:prstGeom prst="downArrow">
            <a:avLst/>
          </a:prstGeom>
          <a:solidFill>
            <a:srgbClr val="B78034"/>
          </a:solidFill>
          <a:ln>
            <a:solidFill>
              <a:srgbClr val="B7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0" y="4617720"/>
            <a:ext cx="2560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4864608"/>
            <a:ext cx="24140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7211C"/>
                </a:solidFill>
                <a:latin typeface="PingFang SC"/>
              </a:rPr>
              <a:t>Telemetry Server / Local Storage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412480" y="4069080"/>
            <a:ext cx="365760" cy="457200"/>
          </a:xfrm>
          <a:prstGeom prst="downArrow">
            <a:avLst/>
          </a:prstGeom>
          <a:solidFill>
            <a:srgbClr val="B78034"/>
          </a:solidFill>
          <a:ln>
            <a:solidFill>
              <a:srgbClr val="B78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7211C"/>
                </a:solidFill>
                <a:latin typeface="PingFang SC"/>
              </a:rPr>
              <a:t>6. 当前成果与后续方向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5C52"/>
                </a:solidFill>
                <a:latin typeface="PingFang SC"/>
              </a:rPr>
              <a:t>项目已具备可运行原型，后续重点继续提升真实感和实用性。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63640" y="146304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7211C"/>
                </a:solidFill>
                <a:latin typeface="PingFang SC"/>
              </a:rPr>
              <a:t>当前成果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6634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已完成可运行的网站原型</a:t>
            </a:r>
          </a:p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已接入真实模型与真实地图能力</a:t>
            </a:r>
          </a:p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已提供后台日志与调用验证能力</a:t>
            </a:r>
          </a:p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已形成首页、行程页、准备页三段式结构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783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7211C"/>
                </a:solidFill>
                <a:latin typeface="PingFang SC"/>
              </a:rPr>
              <a:t>后续方向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40280"/>
            <a:ext cx="46634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持续优化地图底图与路线细节</a:t>
            </a:r>
          </a:p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提升行程文案与 POI 点位一致性</a:t>
            </a:r>
          </a:p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接入更真实的机票和酒店价格源</a:t>
            </a:r>
          </a:p>
          <a:p>
            <a:pPr algn="l"/>
            <a:r>
              <a:rPr sz="1400" b="0">
                <a:solidFill>
                  <a:srgbClr val="665C52"/>
                </a:solidFill>
                <a:latin typeface="PingFang SC"/>
              </a:rPr>
              <a:t>• 增加方案分享、导出和多方案对比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